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3004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Merge step on the same illustrative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Files of size 5, 10, 20,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Mask example for four 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Illustrative example: best choice is items 1 and 2, profit 90.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illustrative items; best found is 90, so the 86.7 branch is pruned.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11B50-B2C7-FB57-6359-BA7CEC39E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6471B4-C108-DE55-7163-40231F5211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6BC5E5-BD70-8EBD-0CC7-9FD319B5B8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B9D17-4C1D-A873-A7D9-4B90615E02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361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566400" cy="546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925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925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19867"/>
            <a:ext cx="10566400" cy="392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566400" cy="546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925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925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19867"/>
            <a:ext cx="10566400" cy="3925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1666240"/>
            <a:ext cx="1016000" cy="7620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920240"/>
            <a:ext cx="10883392" cy="345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DESIGN AND ANALYSIS OF ALGORITHMS</a:t>
            </a:r>
            <a:endParaRPr lang="en-US" sz="18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2418080"/>
            <a:ext cx="10883392" cy="9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75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DAA Macro Project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812800" y="3567430"/>
            <a:ext cx="1088339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12800" y="3819525"/>
            <a:ext cx="10883392" cy="339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70"/>
              </a:lnSpc>
              <a:buNone/>
            </a:pPr>
            <a:r>
              <a:rPr lang="en-US" sz="19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Merge Sort · Optimal Merge Pattern · Travelling Salesperson · Sum of Subsets · 0/1 Knapsack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12800" y="4632960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·  Group 05 (G5) · 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fontAlgn="t"/>
            <a:r>
              <a:rPr lang="en-IN" sz="4000" dirty="0"/>
              <a:t>Learning Objectives of the Project</a:t>
            </a:r>
          </a:p>
        </p:txBody>
      </p:sp>
      <p:sp>
        <p:nvSpPr>
          <p:cNvPr id="3" name="Shape 1"/>
          <p:cNvSpPr/>
          <p:nvPr/>
        </p:nvSpPr>
        <p:spPr>
          <a:xfrm>
            <a:off x="812800" y="2258008"/>
            <a:ext cx="2011680" cy="358399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2258006"/>
            <a:ext cx="2011680" cy="3583993"/>
          </a:xfrm>
          <a:custGeom>
            <a:avLst/>
            <a:gdLst/>
            <a:ahLst/>
            <a:cxnLst/>
            <a:rect l="l" t="t" r="r" b="b"/>
            <a:pathLst>
              <a:path w="201168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910080" y="0"/>
                </a:lnTo>
                <a:arcTo wR="101600" hR="101600" stAng="16200000" swAng="5400000"/>
                <a:lnTo>
                  <a:pt x="201168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533015"/>
            <a:ext cx="1554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914015"/>
            <a:ext cx="155448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Merge Sort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1066800" y="3700145"/>
            <a:ext cx="15544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Divide and Conquer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4309745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Recursion tree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66800" y="4671695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O(n log n)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51480" y="2258008"/>
            <a:ext cx="2011680" cy="358399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2951480" y="2258006"/>
            <a:ext cx="2011680" cy="3583994"/>
          </a:xfrm>
          <a:custGeom>
            <a:avLst/>
            <a:gdLst/>
            <a:ahLst/>
            <a:cxnLst/>
            <a:rect l="l" t="t" r="r" b="b"/>
            <a:pathLst>
              <a:path w="201168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910080" y="0"/>
                </a:lnTo>
                <a:arcTo wR="101600" hR="101600" stAng="16200000" swAng="5400000"/>
                <a:lnTo>
                  <a:pt x="201168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3B82A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5480" y="2656840"/>
            <a:ext cx="1554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5480" y="3037840"/>
            <a:ext cx="155448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Optimal Merge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3205480" y="3823970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Greedy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05480" y="4185920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 tree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205480" y="4547870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Least total cost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90160" y="2258008"/>
            <a:ext cx="2011680" cy="358399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5090160" y="2258008"/>
            <a:ext cx="2011680" cy="3583992"/>
          </a:xfrm>
          <a:custGeom>
            <a:avLst/>
            <a:gdLst/>
            <a:ahLst/>
            <a:cxnLst/>
            <a:rect l="l" t="t" r="r" b="b"/>
            <a:pathLst>
              <a:path w="201168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910080" y="0"/>
                </a:lnTo>
                <a:arcTo wR="101600" hR="101600" stAng="16200000" swAng="5400000"/>
                <a:lnTo>
                  <a:pt x="201168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19" name="Text 17"/>
          <p:cNvSpPr/>
          <p:nvPr/>
        </p:nvSpPr>
        <p:spPr>
          <a:xfrm>
            <a:off x="5344160" y="2700972"/>
            <a:ext cx="1554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III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4160" y="3081972"/>
            <a:ext cx="1554480" cy="361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TSP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344160" y="3532188"/>
            <a:ext cx="15544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Dynamic Programming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4160" y="4141788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Bitmask states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44160" y="4503738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O(n² · 2ⁿ)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228840" y="2258008"/>
            <a:ext cx="2011680" cy="358399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7228840" y="2258004"/>
            <a:ext cx="2011680" cy="3583995"/>
          </a:xfrm>
          <a:custGeom>
            <a:avLst/>
            <a:gdLst/>
            <a:ahLst/>
            <a:cxnLst/>
            <a:rect l="l" t="t" r="r" b="b"/>
            <a:pathLst>
              <a:path w="201168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910080" y="0"/>
                </a:lnTo>
                <a:arcTo wR="101600" hR="101600" stAng="16200000" swAng="5400000"/>
                <a:lnTo>
                  <a:pt x="201168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3B82A0"/>
          </a:solidFill>
          <a:ln/>
        </p:spPr>
      </p:sp>
      <p:sp>
        <p:nvSpPr>
          <p:cNvPr id="26" name="Text 24"/>
          <p:cNvSpPr/>
          <p:nvPr/>
        </p:nvSpPr>
        <p:spPr>
          <a:xfrm>
            <a:off x="7482840" y="2656840"/>
            <a:ext cx="1554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IV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82840" y="3037840"/>
            <a:ext cx="155448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 of Subsets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7482840" y="3823970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Backtracking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82840" y="4185920"/>
            <a:ext cx="17576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State-space tree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82840" y="4547870"/>
            <a:ext cx="17576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branches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367520" y="2258008"/>
            <a:ext cx="2011680" cy="3583992"/>
          </a:xfrm>
          <a:prstGeom prst="roundRect">
            <a:avLst>
              <a:gd name="adj" fmla="val 5051"/>
            </a:avLst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367520" y="2258004"/>
            <a:ext cx="2011680" cy="3583996"/>
          </a:xfrm>
          <a:custGeom>
            <a:avLst/>
            <a:gdLst/>
            <a:ahLst/>
            <a:cxnLst/>
            <a:rect l="l" t="t" r="r" b="b"/>
            <a:pathLst>
              <a:path w="201168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1910080" y="0"/>
                </a:lnTo>
                <a:arcTo wR="101600" hR="101600" stAng="16200000" swAng="5400000"/>
                <a:lnTo>
                  <a:pt x="201168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33" name="Text 31"/>
          <p:cNvSpPr/>
          <p:nvPr/>
        </p:nvSpPr>
        <p:spPr>
          <a:xfrm>
            <a:off x="9621520" y="2533015"/>
            <a:ext cx="155448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V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9621520" y="2914015"/>
            <a:ext cx="1554480" cy="697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5"/>
              </a:lnSpc>
              <a:buNone/>
            </a:pPr>
            <a:r>
              <a:rPr lang="en-US" sz="23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0/1 Knapsack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9621520" y="3700145"/>
            <a:ext cx="155448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Branch and Bound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621520" y="4309745"/>
            <a:ext cx="15544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Upper bounds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621520" y="4671695"/>
            <a:ext cx="1757680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5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by bound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Divide and Conquer,  Greedy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1782147"/>
            <a:ext cx="5441950" cy="4059853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782147"/>
            <a:ext cx="5441950" cy="4059853"/>
          </a:xfrm>
          <a:custGeom>
            <a:avLst/>
            <a:gdLst/>
            <a:ahLst/>
            <a:cxnLst/>
            <a:rect l="l" t="t" r="r" b="b"/>
            <a:pathLst>
              <a:path w="544195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340350" y="0"/>
                </a:lnTo>
                <a:arcTo wR="101600" hR="101600" stAng="16200000" swAng="5400000"/>
                <a:lnTo>
                  <a:pt x="544195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12670"/>
            <a:ext cx="508196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706370"/>
            <a:ext cx="5081969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Merge Sort Recursion Tree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6800" y="3183891"/>
            <a:ext cx="508196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Splits the array into halves recursively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575050"/>
            <a:ext cx="508196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Merges sorted halves back together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966211"/>
            <a:ext cx="508196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Recursion tree is about log n levels deep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4357370"/>
            <a:ext cx="5081969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Time O(n log n), space O(n)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748530"/>
            <a:ext cx="5081969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O(n log n)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6457950" y="1782147"/>
            <a:ext cx="4921250" cy="4059853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57950" y="1782147"/>
            <a:ext cx="4921250" cy="4059853"/>
          </a:xfrm>
          <a:custGeom>
            <a:avLst/>
            <a:gdLst/>
            <a:ahLst/>
            <a:cxnLst/>
            <a:rect l="l" t="t" r="r" b="b"/>
            <a:pathLst>
              <a:path w="492125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4819650" y="0"/>
                </a:lnTo>
                <a:arcTo wR="101600" hR="101600" stAng="16200000" swAng="5400000"/>
                <a:lnTo>
                  <a:pt x="492125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3B82A0"/>
          </a:solidFill>
          <a:ln/>
        </p:spPr>
      </p:sp>
      <p:sp>
        <p:nvSpPr>
          <p:cNvPr id="14" name="Text 12"/>
          <p:cNvSpPr/>
          <p:nvPr/>
        </p:nvSpPr>
        <p:spPr>
          <a:xfrm>
            <a:off x="6711950" y="2312670"/>
            <a:ext cx="454564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711950" y="2706370"/>
            <a:ext cx="4667250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Optimal Merge Pattern Tree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711950" y="3183891"/>
            <a:ext cx="45456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Merges many sorted files at least cost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11950" y="3575050"/>
            <a:ext cx="45456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Always merges the two smallest first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1950" y="3966211"/>
            <a:ext cx="45456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 tree shows the order and step costs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1950" y="4357370"/>
            <a:ext cx="454564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Time O(n log n) with a min-heap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711950" y="4748530"/>
            <a:ext cx="45456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8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Smallest two first</a:t>
            </a: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Dynamic Programming,  Backtracking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12800" y="1772816"/>
            <a:ext cx="5181600" cy="4069184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772816"/>
            <a:ext cx="5181600" cy="4069184"/>
          </a:xfrm>
          <a:custGeom>
            <a:avLst/>
            <a:gdLst/>
            <a:ahLst/>
            <a:cxnLst/>
            <a:rect l="l" t="t" r="r" b="b"/>
            <a:pathLst>
              <a:path w="518160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272666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628266"/>
            <a:ext cx="4813808" cy="726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Travelling Salesperson Problem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6800" y="341820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Cheapest tour through every city once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771266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Bitmask marks the visited cities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412432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dp[mask][last] reuses subproblem costs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4477386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Time O(n² · 2ⁿ), space O(n · 2ⁿ)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830445"/>
            <a:ext cx="4813808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O(n² · 2ⁿ)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197600" y="1772816"/>
            <a:ext cx="5181600" cy="4069184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206931" y="1772816"/>
            <a:ext cx="5181600" cy="4069184"/>
          </a:xfrm>
          <a:custGeom>
            <a:avLst/>
            <a:gdLst/>
            <a:ahLst/>
            <a:cxnLst/>
            <a:rect l="l" t="t" r="r" b="b"/>
            <a:pathLst>
              <a:path w="518160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3B82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2447925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1600" y="2803525"/>
            <a:ext cx="481380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 of Subsets Tree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51600" y="324294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Finds subsets that add up to a target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1600" y="359600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Includes or excludes each element in turn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1600" y="3949066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Prunes branches that cannot reach the target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1600" y="430212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Worst case 2ⁿ nodes, far fewer in practice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1600" y="4655186"/>
            <a:ext cx="4813808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Include or exclude</a:t>
            </a:r>
            <a:endParaRPr lang="en-US" sz="2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0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Branch and Bound, and Technologies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94138" y="1793238"/>
            <a:ext cx="5181600" cy="4048761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812800" y="1793238"/>
            <a:ext cx="5181600" cy="4048762"/>
          </a:xfrm>
          <a:custGeom>
            <a:avLst/>
            <a:gdLst/>
            <a:ahLst/>
            <a:cxnLst/>
            <a:rect l="l" t="t" r="r" b="b"/>
            <a:pathLst>
              <a:path w="518160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E07A3F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447925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V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66800" y="2803525"/>
            <a:ext cx="481380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0/1 Knapsack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66800" y="3242946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Maximise profit within the weight capacity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66800" y="3596007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Items are taken whole or not at all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66800" y="3949064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Upper bounds estimate each branch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66800" y="430212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Prunes branches that cannot beat the best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66800" y="4655186"/>
            <a:ext cx="4813808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Bound and prune</a:t>
            </a:r>
            <a:endParaRPr lang="en-US" sz="2500" dirty="0"/>
          </a:p>
        </p:txBody>
      </p:sp>
      <p:sp>
        <p:nvSpPr>
          <p:cNvPr id="12" name="Shape 10"/>
          <p:cNvSpPr/>
          <p:nvPr/>
        </p:nvSpPr>
        <p:spPr>
          <a:xfrm>
            <a:off x="6197600" y="1793238"/>
            <a:ext cx="5181600" cy="4048762"/>
          </a:xfrm>
          <a:prstGeom prst="roundRect">
            <a:avLst>
              <a:gd name="adj" fmla="val 2367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197600" y="1793236"/>
            <a:ext cx="5181600" cy="4048763"/>
          </a:xfrm>
          <a:custGeom>
            <a:avLst/>
            <a:gdLst/>
            <a:ahLst/>
            <a:cxnLst/>
            <a:rect l="l" t="t" r="r" b="b"/>
            <a:pathLst>
              <a:path w="5181600" h="4292600">
                <a:moveTo>
                  <a:pt x="0" y="101600"/>
                </a:moveTo>
                <a:lnTo>
                  <a:pt x="0" y="101600"/>
                </a:lnTo>
                <a:arcTo wR="101600" hR="101600" stAng="10800000" swAng="5400000"/>
                <a:lnTo>
                  <a:pt x="5080000" y="0"/>
                </a:lnTo>
                <a:arcTo wR="101600" hR="101600" stAng="16200000" swAng="5400000"/>
                <a:lnTo>
                  <a:pt x="5181600" y="101600"/>
                </a:lnTo>
                <a:arcTo wR="101600" hR="38100" stAng="0" swAng="-5400000"/>
                <a:lnTo>
                  <a:pt x="101600" y="63500"/>
                </a:lnTo>
                <a:arcTo wR="101600" hR="38100" stAng="16200000" swAng="-5400000"/>
                <a:close/>
              </a:path>
            </a:pathLst>
          </a:custGeom>
          <a:solidFill>
            <a:srgbClr val="3B82A0"/>
          </a:solidFill>
          <a:ln/>
        </p:spPr>
      </p:sp>
      <p:sp>
        <p:nvSpPr>
          <p:cNvPr id="14" name="Text 12"/>
          <p:cNvSpPr/>
          <p:nvPr/>
        </p:nvSpPr>
        <p:spPr>
          <a:xfrm>
            <a:off x="6451600" y="2447925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TOOLS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51600" y="2803525"/>
            <a:ext cx="4813808" cy="37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60"/>
              </a:lnSpc>
              <a:buNone/>
            </a:pPr>
            <a:r>
              <a:rPr lang="en-US" sz="2400" b="1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Technologies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51600" y="3242946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Java for the algorithm implementations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51600" y="3596007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Git and GitHub for version control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51600" y="3949064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Markdown READMEs for documentation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51600" y="4302125"/>
            <a:ext cx="4813808" cy="289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80"/>
              </a:lnSpc>
              <a:buNone/>
            </a:pPr>
            <a:r>
              <a:rPr lang="en-US" sz="1600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600" dirty="0">
                <a:solidFill>
                  <a:srgbClr val="333A44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One folder per unit with code and notes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1600" y="4655186"/>
            <a:ext cx="4813808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500" b="1" dirty="0">
                <a:solidFill>
                  <a:srgbClr val="3B82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Java · Git · Markdown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32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Merge Sort: Divide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396967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 Sort is a divide-and-conquer algorithm.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267710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Divide: split the array into two halves.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768806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Conquer: sort each half recursively.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269902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Base case: one element is already sorted.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763488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 recursion tree has one node per call, about log n levels deep.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6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6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32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Merge Sort: Merge and Cost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554423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Combine: merge two sorted halves into one.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121463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Merging n elements takes O(n) work.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670430"/>
            <a:ext cx="48514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Every level of the tree does n work in total.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180284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About log n levels give time O(n log n).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765756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Extra space is O(n); the sort is stable.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6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6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32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Optimal Merge Pattern: Greedy Choice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494757"/>
            <a:ext cx="48514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Problem: merge n sorted files into one file.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047445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Merging files of size a and b costs a + b.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564532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 merge order changes the total cost.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100076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Greedy rule: always merge the two smallest files.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785758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 merge tree shows the order and cost of each step.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6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6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Optimal Merge Pattern: Total Cost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364184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Example file sizes: 5, 10, 20 and 30.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898856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Merge 5 + 10 = 15, then 15 + 20 = 35, then 35 + 30 = 65.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721818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Total cost = 15 + 35 + 65 = 115.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247600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A min-heap picks the two smallest files each time.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985985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Time O(n log n), the same idea as Huffman coding.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cost bar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Travelling Salesperson: The Problem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474677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Given cities and the cost between every pair.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064672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Find the cheapest tour that visits each city once.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851714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 tour must return to the starting city.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341577"/>
            <a:ext cx="48514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Brute force checks (n − 1)! possible routes.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831439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Subproblems overlap, so dynamic programming applies.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four-city graph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III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Travelling Salesperson: Bitmask DP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404983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Bitmask: bit i is 1 when city i is visited.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898856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State dp[mask][last] is the cheapest cost to reach last.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689909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Transition: add one unvisited city to the mask.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443174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Answer: best full tour plus the cost back to the start.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5266691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Time O(n² · 2ⁿ), space O(n · 2ⁿ).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IV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 of Subsets: State-Space Tree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363391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Find subsets whose elements add up to a target.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154687"/>
            <a:ext cx="48514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Each level of the tree decides one element.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629484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Left branch includes it, right branch excludes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360401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Example: set {3, 5, 6} with target 8.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859062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Subset {3, 5} reaches the target; the path to 9 is cut.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IV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Sum of Subsets: Pruning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385695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Backtracking abandons a branch that cannot succeed.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3151546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when the running sum exceeds the target.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917398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when the remaining items cannot reach it.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694022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Then backtrack and try the other choice.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5173466"/>
            <a:ext cx="4851400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Worst case 2ⁿ nodes, far fewer in practice.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V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0/1 Knapsack: The Problem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290739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Each item has a weight and a profit.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791895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The bag has a fixed capacity.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293051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Goal: maximise total profit within the capacity.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103697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Each item is taken whole or left out.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4617163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Example, capacity 5: items 1 and 2 give profit 90.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303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19"/>
              </a:lnSpc>
              <a:buNone/>
            </a:pPr>
            <a:r>
              <a:rPr lang="en-US" sz="1585" b="1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UNIT V </a:t>
            </a:r>
            <a:endParaRPr lang="en-US" sz="1585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268729"/>
            <a:ext cx="10883392" cy="571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318"/>
              </a:lnSpc>
              <a:buNone/>
            </a:pPr>
            <a:r>
              <a:rPr lang="en-US" sz="3925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Knapsack: Branch and Bound</a:t>
            </a:r>
            <a:endParaRPr lang="en-US" sz="3925" dirty="0"/>
          </a:p>
        </p:txBody>
      </p:sp>
      <p:sp>
        <p:nvSpPr>
          <p:cNvPr id="4" name="Text 2"/>
          <p:cNvSpPr/>
          <p:nvPr/>
        </p:nvSpPr>
        <p:spPr>
          <a:xfrm>
            <a:off x="812800" y="2330690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Sort items by profit-to-weight ratio.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12800" y="2841781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Each node gets an upper bound from a fractional fill.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3639618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a node that is too heavy.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4192984"/>
            <a:ext cx="4682998" cy="619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Prune a node whose bound cannot beat the best profit.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5038738"/>
            <a:ext cx="4682998" cy="322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40"/>
              </a:lnSpc>
              <a:buNone/>
            </a:pPr>
            <a:r>
              <a:rPr lang="en-US" sz="1800" dirty="0">
                <a:solidFill>
                  <a:srgbClr val="E07A3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●</a:t>
            </a:r>
            <a:r>
              <a:rPr lang="en-US" sz="180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 Worst case 2ⁿ, usually far fewer nodes.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664200" y="1948973"/>
            <a:ext cx="5715000" cy="39370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</p:sp>
      <p:pic>
        <p:nvPicPr>
          <p:cNvPr id="10" name="Image 0" descr="diagram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791200" y="2075973"/>
            <a:ext cx="5461000" cy="3683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804D7B-0813-1F74-7EEF-54520872D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54F236-4132-8017-BEAF-C5227CC94D2D}"/>
              </a:ext>
            </a:extLst>
          </p:cNvPr>
          <p:cNvSpPr/>
          <p:nvPr/>
        </p:nvSpPr>
        <p:spPr>
          <a:xfrm>
            <a:off x="2035110" y="1760376"/>
            <a:ext cx="1016000" cy="76200"/>
          </a:xfrm>
          <a:prstGeom prst="rect">
            <a:avLst/>
          </a:prstGeom>
          <a:solidFill>
            <a:srgbClr val="E07A3F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EC671E4-7BF7-5194-9DEC-4EB83BCF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9755" y="2367280"/>
            <a:ext cx="7491445" cy="1410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650"/>
              </a:lnSpc>
              <a:buNone/>
            </a:pPr>
            <a:r>
              <a:rPr lang="en-US" sz="8800" dirty="0">
                <a:latin typeface="Georgia" pitchFamily="18" charset="0"/>
              </a:rPr>
              <a:t>THANK YOU !</a:t>
            </a:r>
            <a:endParaRPr lang="en-US" sz="8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92B6DA0-43B9-E754-71AF-901A2ED55E13}"/>
              </a:ext>
            </a:extLst>
          </p:cNvPr>
          <p:cNvSpPr/>
          <p:nvPr/>
        </p:nvSpPr>
        <p:spPr>
          <a:xfrm>
            <a:off x="812800" y="3567430"/>
            <a:ext cx="1088339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20"/>
              </a:lnSpc>
              <a:buNone/>
            </a:pP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615A8A2-213F-BD04-075A-3827BB803B7E}"/>
              </a:ext>
            </a:extLst>
          </p:cNvPr>
          <p:cNvSpPr/>
          <p:nvPr/>
        </p:nvSpPr>
        <p:spPr>
          <a:xfrm>
            <a:off x="4069183" y="4635266"/>
            <a:ext cx="314415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00"/>
              </a:lnSpc>
            </a:pPr>
            <a:r>
              <a:rPr lang="en-US" sz="2000" b="1" dirty="0">
                <a:solidFill>
                  <a:srgbClr val="3B82A0"/>
                </a:solidFill>
                <a:latin typeface="Georgia" pitchFamily="18" charset="0"/>
              </a:rPr>
              <a:t>For your valuable time.</a:t>
            </a:r>
            <a:endParaRPr lang="en-US" sz="2000" dirty="0"/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5A5220E9-12AC-81CD-F9D7-6DE571685A5B}"/>
              </a:ext>
            </a:extLst>
          </p:cNvPr>
          <p:cNvSpPr/>
          <p:nvPr/>
        </p:nvSpPr>
        <p:spPr>
          <a:xfrm>
            <a:off x="8336383" y="3740928"/>
            <a:ext cx="1016000" cy="76200"/>
          </a:xfrm>
          <a:prstGeom prst="rect">
            <a:avLst/>
          </a:prstGeom>
          <a:solidFill>
            <a:srgbClr val="E07A3F"/>
          </a:solidFill>
          <a:ln/>
        </p:spPr>
      </p:sp>
    </p:spTree>
    <p:extLst>
      <p:ext uri="{BB962C8B-B14F-4D97-AF65-F5344CB8AC3E}">
        <p14:creationId xmlns:p14="http://schemas.microsoft.com/office/powerpoint/2010/main" val="3604537645"/>
      </p:ext>
    </p:extLst>
  </p:cSld>
  <p:clrMapOvr>
    <a:masterClrMapping/>
  </p:clrMapOvr>
</p:sld>
</file>

<file path=ppt/theme/theme1.xml><?xml version="1.0" encoding="utf-8"?>
<a:theme xmlns:a="http://schemas.openxmlformats.org/drawingml/2006/main" name="DAA Macro Project – Group 05">
  <a:themeElements>
    <a:clrScheme name="DAA Macro Project – Group 05">
      <a:dk1>
        <a:srgbClr val="1C2430"/>
      </a:dk1>
      <a:lt1>
        <a:srgbClr val="F6F4EE"/>
      </a:lt1>
      <a:dk2>
        <a:srgbClr val="535860"/>
      </a:dk2>
      <a:lt2>
        <a:srgbClr val="E0DFDB"/>
      </a:lt2>
      <a:accent1>
        <a:srgbClr val="E07A3F"/>
      </a:accent1>
      <a:accent2>
        <a:srgbClr val="3B82A0"/>
      </a:accent2>
      <a:accent3>
        <a:srgbClr val="5B6470"/>
      </a:accent3>
      <a:accent4>
        <a:srgbClr val="9AA0A6"/>
      </a:accent4>
      <a:accent5>
        <a:srgbClr val="73777C"/>
      </a:accent5>
      <a:accent6>
        <a:srgbClr val="949699"/>
      </a:accent6>
      <a:hlink>
        <a:srgbClr val="0563C1"/>
      </a:hlink>
      <a:folHlink>
        <a:srgbClr val="954F72"/>
      </a:folHlink>
    </a:clrScheme>
    <a:fontScheme name="DAA Macro Project – Group 05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eorgi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1120</Words>
  <Application>Microsoft Office PowerPoint</Application>
  <PresentationFormat>Widescreen</PresentationFormat>
  <Paragraphs>171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Georgia</vt:lpstr>
      <vt:lpstr>DAA Macro Project – Group 05</vt:lpstr>
      <vt:lpstr>DAA Macro Project</vt:lpstr>
      <vt:lpstr>Learning Objectives of the Project</vt:lpstr>
      <vt:lpstr>Divide and Conquer,  Greedy</vt:lpstr>
      <vt:lpstr>Dynamic Programming,  Backtracking</vt:lpstr>
      <vt:lpstr>Branch and Bound, and Technologies</vt:lpstr>
      <vt:lpstr>Merge Sort: Divide</vt:lpstr>
      <vt:lpstr>Merge Sort: Merge and Cost</vt:lpstr>
      <vt:lpstr>Optimal Merge Pattern: Greedy Choice</vt:lpstr>
      <vt:lpstr>Optimal Merge Pattern: Total Cost</vt:lpstr>
      <vt:lpstr>Travelling Salesperson: The Problem</vt:lpstr>
      <vt:lpstr>Travelling Salesperson: Bitmask DP</vt:lpstr>
      <vt:lpstr>Sum of Subsets: State-Space Tree</vt:lpstr>
      <vt:lpstr>Sum of Subsets: Pruning</vt:lpstr>
      <vt:lpstr>0/1 Knapsack: The Problem</vt:lpstr>
      <vt:lpstr>Knapsack: Branch and Bound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DAA Macro Project – Group 05</dc:title>
  <dc:subject/>
  <dc:creator/>
  <cp:lastModifiedBy>Hruthika Rontala</cp:lastModifiedBy>
  <cp:revision>2</cp:revision>
  <dcterms:created xsi:type="dcterms:W3CDTF">2026-10-24T07:53:54Z</dcterms:created>
  <dcterms:modified xsi:type="dcterms:W3CDTF">2026-10-24T08:12:18Z</dcterms:modified>
</cp:coreProperties>
</file>